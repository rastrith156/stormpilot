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58368"/>
            <a:ext cx="804672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>
                <a:solidFill>
                  <a:srgbClr val="49D6C9"/>
                </a:solidFill>
                <a:latin typeface="Aptos"/>
              </a:rPr>
              <a:t>STORMPILOT / PROJECT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7772400" cy="1508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3400" b="1">
                <a:solidFill>
                  <a:srgbClr val="F1F5F9"/>
                </a:solidFill>
                <a:latin typeface="Aptos Display"/>
              </a:rPr>
              <a:t>Resilient Dispatch
&amp; Agile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3090672"/>
            <a:ext cx="694944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800" b="0">
                <a:solidFill>
                  <a:srgbClr val="ADBBCF"/>
                </a:solidFill>
                <a:latin typeface="Aptos"/>
              </a:rPr>
              <a:t>A local reliability-engineering lab with a working Scrum and Kanban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080760"/>
            <a:ext cx="73152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0">
                <a:solidFill>
                  <a:srgbClr val="ADBBCF"/>
                </a:solidFill>
                <a:latin typeface="Aptos"/>
              </a:rPr>
              <a:t>Project presentation  |  12 October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32520" y="1554480"/>
            <a:ext cx="868680" cy="3474720"/>
          </a:xfrm>
          <a:prstGeom prst="roundRect">
            <a:avLst/>
          </a:prstGeom>
          <a:solidFill>
            <a:srgbClr val="1B2539"/>
          </a:solidFill>
          <a:ln w="12700">
            <a:solidFill>
              <a:srgbClr val="25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42248" y="1828800"/>
            <a:ext cx="658368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2200" b="1">
                <a:solidFill>
                  <a:srgbClr val="49D6C9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23960" y="4315968"/>
            <a:ext cx="694944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000" b="1">
                <a:solidFill>
                  <a:srgbClr val="F1F5F9"/>
                </a:solidFill>
                <a:latin typeface="Aptos"/>
              </a:rPr>
              <a:t>API + UI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10928" y="1554480"/>
            <a:ext cx="868680" cy="3474720"/>
          </a:xfrm>
          <a:prstGeom prst="roundRect">
            <a:avLst/>
          </a:prstGeom>
          <a:solidFill>
            <a:srgbClr val="1B2539"/>
          </a:solidFill>
          <a:ln w="12700">
            <a:solidFill>
              <a:srgbClr val="25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20655" y="1828800"/>
            <a:ext cx="658368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2200" b="1">
                <a:solidFill>
                  <a:srgbClr val="48A0FA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02367" y="4315968"/>
            <a:ext cx="694944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000" b="1">
                <a:solidFill>
                  <a:srgbClr val="F1F5F9"/>
                </a:solidFill>
                <a:latin typeface="Aptos"/>
              </a:rPr>
              <a:t>OBSERVE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698480" y="1554480"/>
            <a:ext cx="868680" cy="3474720"/>
          </a:xfrm>
          <a:prstGeom prst="roundRect">
            <a:avLst/>
          </a:prstGeom>
          <a:solidFill>
            <a:srgbClr val="1B2539"/>
          </a:solidFill>
          <a:ln w="12700">
            <a:solidFill>
              <a:srgbClr val="25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08207" y="1828800"/>
            <a:ext cx="658368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2200" b="1">
                <a:solidFill>
                  <a:srgbClr val="FFC857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19" y="4315968"/>
            <a:ext cx="694944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000" b="1">
                <a:solidFill>
                  <a:srgbClr val="F1F5F9"/>
                </a:solidFill>
                <a:latin typeface="Aptos"/>
              </a:rPr>
              <a:t>RECOVER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1">
                <a:solidFill>
                  <a:srgbClr val="49D6C9"/>
                </a:solidFill>
                <a:latin typeface="Aptos"/>
              </a:rPr>
              <a:t>01 / USER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700" b="1">
                <a:solidFill>
                  <a:srgbClr val="F1F5F9"/>
                </a:solidFill>
                <a:latin typeface="Aptos Display"/>
              </a:rPr>
              <a:t>Product workflow in the browser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658368" cy="41148"/>
          </a:xfrm>
          <a:prstGeom prst="rect">
            <a:avLst/>
          </a:prstGeom>
          <a:solidFill>
            <a:srgbClr val="49D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ormpilot-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08760"/>
            <a:ext cx="7452360" cy="3794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321040" y="1508760"/>
            <a:ext cx="3246120" cy="3794760"/>
          </a:xfrm>
          <a:prstGeom prst="roundRect">
            <a:avLst/>
          </a:prstGeom>
          <a:solidFill>
            <a:srgbClr val="1B2539"/>
          </a:solidFill>
          <a:ln w="12700">
            <a:solidFill>
              <a:srgbClr val="25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13648" y="1810512"/>
            <a:ext cx="26517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1">
                <a:solidFill>
                  <a:srgbClr val="49D6C9"/>
                </a:solidFill>
                <a:latin typeface="Aptos"/>
              </a:rPr>
              <a:t>LIVE LOCAL CAPTURE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13648" y="2267712"/>
            <a:ext cx="265176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100" b="1">
                <a:solidFill>
                  <a:srgbClr val="F1F5F9"/>
                </a:solidFill>
                <a:latin typeface="Aptos Display"/>
              </a:rPr>
              <a:t>Kanban board</a:t>
            </a:r>
          </a:p>
        </p:txBody>
      </p:sp>
      <p:sp>
        <p:nvSpPr>
          <p:cNvPr id="9" name="Oval 8"/>
          <p:cNvSpPr/>
          <p:nvPr/>
        </p:nvSpPr>
        <p:spPr>
          <a:xfrm>
            <a:off x="8613648" y="3008376"/>
            <a:ext cx="100584" cy="100584"/>
          </a:xfrm>
          <a:prstGeom prst="ellipse">
            <a:avLst/>
          </a:prstGeom>
          <a:solidFill>
            <a:srgbClr val="49D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42248" y="2907792"/>
            <a:ext cx="2468880" cy="512063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400" b="0">
                <a:solidFill>
                  <a:srgbClr val="F1F5F9"/>
                </a:solidFill>
                <a:latin typeface="Aptos"/>
              </a:rPr>
              <a:t>Four workflow stages with WIP limits</a:t>
            </a:r>
          </a:p>
        </p:txBody>
      </p:sp>
      <p:sp>
        <p:nvSpPr>
          <p:cNvPr id="11" name="Oval 10"/>
          <p:cNvSpPr/>
          <p:nvPr/>
        </p:nvSpPr>
        <p:spPr>
          <a:xfrm>
            <a:off x="8613648" y="3538728"/>
            <a:ext cx="100584" cy="100584"/>
          </a:xfrm>
          <a:prstGeom prst="ellipse">
            <a:avLst/>
          </a:prstGeom>
          <a:solidFill>
            <a:srgbClr val="49D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42248" y="3438144"/>
            <a:ext cx="2468880" cy="512063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400" b="0">
                <a:solidFill>
                  <a:srgbClr val="F1F5F9"/>
                </a:solidFill>
                <a:latin typeface="Aptos"/>
              </a:rPr>
              <a:t>Existing task: Kanban / To Do / Critical</a:t>
            </a:r>
          </a:p>
        </p:txBody>
      </p:sp>
      <p:sp>
        <p:nvSpPr>
          <p:cNvPr id="13" name="Oval 12"/>
          <p:cNvSpPr/>
          <p:nvPr/>
        </p:nvSpPr>
        <p:spPr>
          <a:xfrm>
            <a:off x="8613648" y="4069080"/>
            <a:ext cx="100584" cy="100584"/>
          </a:xfrm>
          <a:prstGeom prst="ellipse">
            <a:avLst/>
          </a:prstGeom>
          <a:solidFill>
            <a:srgbClr val="49D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42248" y="3968496"/>
            <a:ext cx="2468880" cy="512063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400" b="0">
                <a:solidFill>
                  <a:srgbClr val="F1F5F9"/>
                </a:solidFill>
                <a:latin typeface="Aptos"/>
              </a:rPr>
              <a:t>Scrum backlog and sprint views also available</a:t>
            </a:r>
          </a:p>
        </p:txBody>
      </p:sp>
      <p:sp>
        <p:nvSpPr>
          <p:cNvPr id="15" name="Oval 14"/>
          <p:cNvSpPr/>
          <p:nvPr/>
        </p:nvSpPr>
        <p:spPr>
          <a:xfrm>
            <a:off x="8613648" y="4599432"/>
            <a:ext cx="100584" cy="100584"/>
          </a:xfrm>
          <a:prstGeom prst="ellipse">
            <a:avLst/>
          </a:prstGeom>
          <a:solidFill>
            <a:srgbClr val="49D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42248" y="4498848"/>
            <a:ext cx="2468880" cy="512063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400" b="0">
                <a:solidFill>
                  <a:srgbClr val="F1F5F9"/>
                </a:solidFill>
                <a:latin typeface="Aptos"/>
              </a:rPr>
              <a:t>SQLite-backed tasks, stories, and sprints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650992"/>
            <a:ext cx="804672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>
                <a:solidFill>
                  <a:srgbClr val="ADBBCF"/>
                </a:solidFill>
                <a:latin typeface="Aptos"/>
              </a:rPr>
              <a:t>Captured from localhost; no demo records added for this deck.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1">
                <a:solidFill>
                  <a:srgbClr val="49D6C9"/>
                </a:solidFill>
                <a:latin typeface="Aptos"/>
              </a:rPr>
              <a:t>02 /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700" b="1">
                <a:solidFill>
                  <a:srgbClr val="F1F5F9"/>
                </a:solidFill>
                <a:latin typeface="Aptos Display"/>
              </a:rPr>
              <a:t>One application, several reliability layers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658368" cy="41148"/>
          </a:xfrm>
          <a:prstGeom prst="rect">
            <a:avLst/>
          </a:prstGeom>
          <a:solidFill>
            <a:srgbClr val="49D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2148840" cy="1051560"/>
          </a:xfrm>
          <a:prstGeom prst="roundRect">
            <a:avLst/>
          </a:prstGeom>
          <a:solidFill>
            <a:srgbClr val="1B2539"/>
          </a:solidFill>
          <a:ln w="12700">
            <a:solidFill>
              <a:srgbClr val="25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87452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600" b="1">
                <a:solidFill>
                  <a:srgbClr val="49D6C9"/>
                </a:solidFill>
                <a:latin typeface="Aptos"/>
              </a:rPr>
              <a:t>Browser 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14016"/>
            <a:ext cx="18745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0">
                <a:solidFill>
                  <a:srgbClr val="ADBBCF"/>
                </a:solidFill>
                <a:latin typeface="Aptos"/>
              </a:rPr>
              <a:t>Scrum + Kanban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828800"/>
            <a:ext cx="2331720" cy="1051560"/>
          </a:xfrm>
          <a:prstGeom prst="roundRect">
            <a:avLst/>
          </a:prstGeom>
          <a:solidFill>
            <a:srgbClr val="1B2539"/>
          </a:solidFill>
          <a:ln w="12700">
            <a:solidFill>
              <a:srgbClr val="25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79" y="2011680"/>
            <a:ext cx="205740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600" b="1">
                <a:solidFill>
                  <a:srgbClr val="48A0FA"/>
                </a:solidFill>
                <a:latin typeface="Aptos"/>
              </a:rPr>
              <a:t>Python HTTP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79" y="2414016"/>
            <a:ext cx="205740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0">
                <a:solidFill>
                  <a:srgbClr val="ADBBCF"/>
                </a:solidFill>
                <a:latin typeface="Aptos"/>
              </a:rPr>
              <a:t>JSON + health + metrics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828800"/>
            <a:ext cx="2103120" cy="1051560"/>
          </a:xfrm>
          <a:prstGeom prst="roundRect">
            <a:avLst/>
          </a:prstGeom>
          <a:solidFill>
            <a:srgbClr val="1B2539"/>
          </a:solidFill>
          <a:ln w="12700">
            <a:solidFill>
              <a:srgbClr val="25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2011680"/>
            <a:ext cx="18287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600" b="1">
                <a:solidFill>
                  <a:srgbClr val="FFC857"/>
                </a:solidFill>
                <a:latin typeface="Aptos"/>
              </a:rPr>
              <a:t>SQLite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414016"/>
            <a:ext cx="182879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0">
                <a:solidFill>
                  <a:srgbClr val="ADBBCF"/>
                </a:solidFill>
                <a:latin typeface="Aptos"/>
              </a:rPr>
              <a:t>Persistent work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40" y="1828800"/>
            <a:ext cx="2788920" cy="1051560"/>
          </a:xfrm>
          <a:prstGeom prst="roundRect">
            <a:avLst/>
          </a:prstGeom>
          <a:solidFill>
            <a:srgbClr val="1B2539"/>
          </a:solidFill>
          <a:ln w="12700">
            <a:solidFill>
              <a:srgbClr val="25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15400" y="2011680"/>
            <a:ext cx="251460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600" b="1">
                <a:solidFill>
                  <a:srgbClr val="49D6C9"/>
                </a:solidFill>
                <a:latin typeface="Aptos"/>
              </a:rPr>
              <a:t>Prometheus / Grafana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2414016"/>
            <a:ext cx="251460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0">
                <a:solidFill>
                  <a:srgbClr val="ADBBCF"/>
                </a:solidFill>
                <a:latin typeface="Aptos"/>
              </a:rPr>
              <a:t>Configured observability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2148840"/>
            <a:ext cx="36576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2000" b="1">
                <a:solidFill>
                  <a:srgbClr val="F1F5F9"/>
                </a:solidFill>
                <a:latin typeface="Aptos"/>
              </a:rPr>
              <a:t>-&gt;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2148840"/>
            <a:ext cx="36576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2000" b="1">
                <a:solidFill>
                  <a:srgbClr val="F1F5F9"/>
                </a:solidFill>
                <a:latin typeface="Aptos"/>
              </a:rPr>
              <a:t>-&gt;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148840"/>
            <a:ext cx="36576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2000" b="1">
                <a:solidFill>
                  <a:srgbClr val="F1F5F9"/>
                </a:solidFill>
                <a:latin typeface="Aptos"/>
              </a:rPr>
              <a:t>-&gt;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3794760"/>
            <a:ext cx="4709160" cy="1143000"/>
          </a:xfrm>
          <a:prstGeom prst="roundRect">
            <a:avLst/>
          </a:prstGeom>
          <a:solidFill>
            <a:srgbClr val="1B2539"/>
          </a:solidFill>
          <a:ln w="12700">
            <a:solidFill>
              <a:srgbClr val="25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07008" y="4023360"/>
            <a:ext cx="182880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500" b="1">
                <a:solidFill>
                  <a:srgbClr val="48A0FA"/>
                </a:solidFill>
                <a:latin typeface="Aptos"/>
              </a:rPr>
              <a:t>Docker Compose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4425696"/>
            <a:ext cx="4114800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0">
                <a:solidFill>
                  <a:srgbClr val="ADBBCF"/>
                </a:solidFill>
                <a:latin typeface="Aptos"/>
              </a:rPr>
              <a:t>Local API + Prometheus + Grafana demo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6520" y="3794760"/>
            <a:ext cx="4709160" cy="1143000"/>
          </a:xfrm>
          <a:prstGeom prst="roundRect">
            <a:avLst/>
          </a:prstGeom>
          <a:solidFill>
            <a:srgbClr val="1B2539"/>
          </a:solidFill>
          <a:ln w="12700">
            <a:solidFill>
              <a:srgbClr val="25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93408" y="4023360"/>
            <a:ext cx="182880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500" b="1">
                <a:solidFill>
                  <a:srgbClr val="FFC857"/>
                </a:solidFill>
                <a:latin typeface="Aptos"/>
              </a:rPr>
              <a:t>Kubernetes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93408" y="4425696"/>
            <a:ext cx="4160520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0">
                <a:solidFill>
                  <a:srgbClr val="ADBBCF"/>
                </a:solidFill>
                <a:latin typeface="Aptos"/>
              </a:rPr>
              <a:t>Replicas, probes, reconciliation, optional HPA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623560"/>
            <a:ext cx="1078992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0">
                <a:solidFill>
                  <a:srgbClr val="ADBBCF"/>
                </a:solidFill>
                <a:latin typeface="Aptos"/>
              </a:rPr>
              <a:t>Compose and Kubernetes layers are configured; end-to-end execution is pending in this environment.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1">
                <a:solidFill>
                  <a:srgbClr val="49D6C9"/>
                </a:solidFill>
                <a:latin typeface="Aptos"/>
              </a:rPr>
              <a:t>03 / ENGINEERING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700" b="1">
                <a:solidFill>
                  <a:srgbClr val="F1F5F9"/>
                </a:solidFill>
                <a:latin typeface="Aptos Display"/>
              </a:rPr>
              <a:t>Reliability controls are designed into the lab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658368" cy="41148"/>
          </a:xfrm>
          <a:prstGeom prst="rect">
            <a:avLst/>
          </a:prstGeom>
          <a:solidFill>
            <a:srgbClr val="49D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10863072" cy="804672"/>
          </a:xfrm>
          <a:prstGeom prst="roundRect">
            <a:avLst/>
          </a:prstGeom>
          <a:solidFill>
            <a:srgbClr val="1B2539"/>
          </a:solidFill>
          <a:ln w="12700">
            <a:solidFill>
              <a:srgbClr val="25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737360"/>
            <a:ext cx="5029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600" b="1">
                <a:solidFill>
                  <a:srgbClr val="49D6C9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768" y="1682495"/>
            <a:ext cx="23317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Aptos"/>
              </a:rPr>
              <a:t>Container boundary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1682495"/>
            <a:ext cx="7269480" cy="4572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00" b="0">
                <a:solidFill>
                  <a:srgbClr val="ADBBCF"/>
                </a:solidFill>
                <a:latin typeface="Aptos"/>
              </a:rPr>
              <a:t>Non-root image; read-only API filesystem and dropped capabilities in Compose.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578608"/>
            <a:ext cx="10863072" cy="804672"/>
          </a:xfrm>
          <a:prstGeom prst="roundRect">
            <a:avLst/>
          </a:prstGeom>
          <a:solidFill>
            <a:srgbClr val="1B2539"/>
          </a:solidFill>
          <a:ln w="12700">
            <a:solidFill>
              <a:srgbClr val="25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761488"/>
            <a:ext cx="5029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600" b="1">
                <a:solidFill>
                  <a:srgbClr val="48A0FA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706624"/>
            <a:ext cx="23317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Aptos"/>
              </a:rPr>
              <a:t>Health and signals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2706624"/>
            <a:ext cx="7269480" cy="4572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00" b="0">
                <a:solidFill>
                  <a:srgbClr val="ADBBCF"/>
                </a:solidFill>
                <a:latin typeface="Aptos"/>
              </a:rPr>
              <a:t>Health/readiness endpoints, request counters, uptime metric, Prometheus rules.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602736"/>
            <a:ext cx="10863072" cy="804672"/>
          </a:xfrm>
          <a:prstGeom prst="roundRect">
            <a:avLst/>
          </a:prstGeom>
          <a:solidFill>
            <a:srgbClr val="1B2539"/>
          </a:solidFill>
          <a:ln w="12700">
            <a:solidFill>
              <a:srgbClr val="25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785616"/>
            <a:ext cx="5029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600" b="1">
                <a:solidFill>
                  <a:srgbClr val="FFC857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3730752"/>
            <a:ext cx="23317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Aptos"/>
              </a:rPr>
              <a:t>Recovery patterns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3730752"/>
            <a:ext cx="7269480" cy="4572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00" b="0">
                <a:solidFill>
                  <a:srgbClr val="ADBBCF"/>
                </a:solidFill>
                <a:latin typeface="Aptos"/>
              </a:rPr>
              <a:t>Kubernetes replicas, probes, disruption budget, and guarded one-pod experiment.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626864"/>
            <a:ext cx="10863072" cy="804672"/>
          </a:xfrm>
          <a:prstGeom prst="roundRect">
            <a:avLst/>
          </a:prstGeom>
          <a:solidFill>
            <a:srgbClr val="1B2539"/>
          </a:solidFill>
          <a:ln w="12700">
            <a:solidFill>
              <a:srgbClr val="25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809744"/>
            <a:ext cx="5029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600" b="1">
                <a:solidFill>
                  <a:srgbClr val="FF5B70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4754880"/>
            <a:ext cx="23317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Aptos"/>
              </a:rPr>
              <a:t>Scaling path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4754880"/>
            <a:ext cx="7269480" cy="4572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00" b="0">
                <a:solidFill>
                  <a:srgbClr val="ADBBCF"/>
                </a:solidFill>
                <a:latin typeface="Aptos"/>
              </a:rPr>
              <a:t>CPU HPA manifest is optional and depends on a working metrics-server.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5897880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>
                <a:solidFill>
                  <a:srgbClr val="FFC857"/>
                </a:solidFill>
                <a:latin typeface="Aptos"/>
              </a:rPr>
              <a:t>Configured controls are not the same as a completed failure-recovery test.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1">
                <a:solidFill>
                  <a:srgbClr val="49D6C9"/>
                </a:solidFill>
                <a:latin typeface="Aptos"/>
              </a:rPr>
              <a:t>04 / TEST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700" b="1">
                <a:solidFill>
                  <a:srgbClr val="F1F5F9"/>
                </a:solidFill>
                <a:latin typeface="Aptos Display"/>
              </a:rPr>
              <a:t>What has been verified locally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658368" cy="41148"/>
          </a:xfrm>
          <a:prstGeom prst="rect">
            <a:avLst/>
          </a:prstGeom>
          <a:solidFill>
            <a:srgbClr val="49D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600200"/>
            <a:ext cx="3182112" cy="1417320"/>
          </a:xfrm>
          <a:prstGeom prst="roundRect">
            <a:avLst/>
          </a:prstGeom>
          <a:solidFill>
            <a:srgbClr val="1B2539"/>
          </a:solidFill>
          <a:ln w="12700">
            <a:solidFill>
              <a:srgbClr val="25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810512"/>
            <a:ext cx="2697480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800" b="1">
                <a:solidFill>
                  <a:srgbClr val="49D6C9"/>
                </a:solidFill>
                <a:latin typeface="Aptos Display"/>
              </a:rPr>
              <a:t>6 /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404872"/>
            <a:ext cx="269748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0">
                <a:solidFill>
                  <a:srgbClr val="ADBBCF"/>
                </a:solidFill>
                <a:latin typeface="Aptos"/>
              </a:rPr>
              <a:t>HTTP integration tests passed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42232" y="1600200"/>
            <a:ext cx="3182112" cy="1417320"/>
          </a:xfrm>
          <a:prstGeom prst="roundRect">
            <a:avLst/>
          </a:prstGeom>
          <a:solidFill>
            <a:srgbClr val="1B2539"/>
          </a:solidFill>
          <a:ln w="12700">
            <a:solidFill>
              <a:srgbClr val="25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70832" y="1810512"/>
            <a:ext cx="2697480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800" b="1">
                <a:solidFill>
                  <a:srgbClr val="48A0FA"/>
                </a:solidFill>
                <a:latin typeface="Aptos Display"/>
              </a:rPr>
              <a:t>130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70832" y="2404872"/>
            <a:ext cx="269748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0">
                <a:solidFill>
                  <a:srgbClr val="ADBBCF"/>
                </a:solidFill>
                <a:latin typeface="Aptos"/>
              </a:rPr>
              <a:t>successful requests in a bounded 2-second smoke run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26096" y="1600200"/>
            <a:ext cx="3182112" cy="1417320"/>
          </a:xfrm>
          <a:prstGeom prst="roundRect">
            <a:avLst/>
          </a:prstGeom>
          <a:solidFill>
            <a:srgbClr val="1B2539"/>
          </a:solidFill>
          <a:ln w="12700">
            <a:solidFill>
              <a:srgbClr val="25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54696" y="1810512"/>
            <a:ext cx="2697480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800" b="1">
                <a:solidFill>
                  <a:srgbClr val="FFC857"/>
                </a:solidFill>
                <a:latin typeface="Aptos Display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54696" y="2404872"/>
            <a:ext cx="269748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0">
                <a:solidFill>
                  <a:srgbClr val="ADBBCF"/>
                </a:solidFill>
                <a:latin typeface="Aptos"/>
              </a:rPr>
              <a:t>failures in that smoke run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3803904"/>
            <a:ext cx="100584" cy="100584"/>
          </a:xfrm>
          <a:prstGeom prst="ellipse">
            <a:avLst/>
          </a:prstGeom>
          <a:solidFill>
            <a:srgbClr val="49D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3703320"/>
            <a:ext cx="10012680" cy="5577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500" b="0">
                <a:solidFill>
                  <a:srgbClr val="F1F5F9"/>
                </a:solidFill>
                <a:latin typeface="Aptos"/>
              </a:rPr>
              <a:t>Live checks covered identity, readiness, health, dispatch, and metrics.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379976"/>
            <a:ext cx="100584" cy="100584"/>
          </a:xfrm>
          <a:prstGeom prst="ellipse">
            <a:avLst/>
          </a:prstGeom>
          <a:solidFill>
            <a:srgbClr val="49D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279392"/>
            <a:ext cx="10012680" cy="5577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500" b="0">
                <a:solidFill>
                  <a:srgbClr val="F1F5F9"/>
                </a:solidFill>
                <a:latin typeface="Aptos"/>
              </a:rPr>
              <a:t>Bash syntax and YAML/JSON configuration parsing passed.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4956048"/>
            <a:ext cx="100584" cy="100584"/>
          </a:xfrm>
          <a:prstGeom prst="ellipse">
            <a:avLst/>
          </a:prstGeom>
          <a:solidFill>
            <a:srgbClr val="49D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4855464"/>
            <a:ext cx="10012680" cy="5577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500" b="0">
                <a:solidFill>
                  <a:srgbClr val="F1F5F9"/>
                </a:solidFill>
                <a:latin typeface="Aptos"/>
              </a:rPr>
              <a:t>Browser confirms the task board and modal/tab navigation locally.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760720"/>
            <a:ext cx="1024128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>
                <a:solidFill>
                  <a:srgbClr val="FFC857"/>
                </a:solidFill>
                <a:latin typeface="Aptos"/>
              </a:rPr>
              <a:t>Short smoke test only: not a capacity, uptime, or SLO measurement.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1">
                <a:solidFill>
                  <a:srgbClr val="49D6C9"/>
                </a:solidFill>
                <a:latin typeface="Aptos"/>
              </a:rPr>
              <a:t>05 / LIMITS AND DEMO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700" b="1">
                <a:solidFill>
                  <a:srgbClr val="F1F5F9"/>
                </a:solidFill>
                <a:latin typeface="Aptos Display"/>
              </a:rPr>
              <a:t>Next steps before claiming full-stack resilience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658368" cy="41148"/>
          </a:xfrm>
          <a:prstGeom prst="rect">
            <a:avLst/>
          </a:prstGeom>
          <a:solidFill>
            <a:srgbClr val="49D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5257800" cy="3611880"/>
          </a:xfrm>
          <a:prstGeom prst="roundRect">
            <a:avLst/>
          </a:prstGeom>
          <a:solidFill>
            <a:srgbClr val="1B2539"/>
          </a:solidFill>
          <a:ln w="12700">
            <a:solidFill>
              <a:srgbClr val="25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828800"/>
            <a:ext cx="448056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000" b="1">
                <a:solidFill>
                  <a:srgbClr val="FF5B70"/>
                </a:solidFill>
                <a:latin typeface="Aptos Display"/>
              </a:rPr>
              <a:t>Not yet run</a:t>
            </a:r>
          </a:p>
        </p:txBody>
      </p:sp>
      <p:sp>
        <p:nvSpPr>
          <p:cNvPr id="7" name="Oval 6"/>
          <p:cNvSpPr/>
          <p:nvPr/>
        </p:nvSpPr>
        <p:spPr>
          <a:xfrm>
            <a:off x="932688" y="2587752"/>
            <a:ext cx="100584" cy="100584"/>
          </a:xfrm>
          <a:prstGeom prst="ellipse">
            <a:avLst/>
          </a:prstGeom>
          <a:solidFill>
            <a:srgbClr val="FF5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2487168"/>
            <a:ext cx="4343400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400" b="0">
                <a:solidFill>
                  <a:srgbClr val="ADBBCF"/>
                </a:solidFill>
                <a:latin typeface="Aptos"/>
              </a:rPr>
              <a:t>Docker/Compose build and monitoring runtime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3154680"/>
            <a:ext cx="100584" cy="100584"/>
          </a:xfrm>
          <a:prstGeom prst="ellipse">
            <a:avLst/>
          </a:prstGeom>
          <a:solidFill>
            <a:srgbClr val="FF5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3054096"/>
            <a:ext cx="4343400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400" b="0">
                <a:solidFill>
                  <a:srgbClr val="ADBBCF"/>
                </a:solidFill>
                <a:latin typeface="Aptos"/>
              </a:rPr>
              <a:t>Grafana visual QA and Prometheus rule validation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721608"/>
            <a:ext cx="100584" cy="100584"/>
          </a:xfrm>
          <a:prstGeom prst="ellipse">
            <a:avLst/>
          </a:prstGeom>
          <a:solidFill>
            <a:srgbClr val="FF5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1288" y="3621024"/>
            <a:ext cx="4343400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400" b="0">
                <a:solidFill>
                  <a:srgbClr val="ADBBCF"/>
                </a:solidFill>
                <a:latin typeface="Aptos"/>
              </a:rPr>
              <a:t>kind pod replacement, HPA, and image scan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288536"/>
            <a:ext cx="100584" cy="100584"/>
          </a:xfrm>
          <a:prstGeom prst="ellipse">
            <a:avLst/>
          </a:prstGeom>
          <a:solidFill>
            <a:srgbClr val="FF5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61288" y="4187952"/>
            <a:ext cx="4343400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400" b="0">
                <a:solidFill>
                  <a:srgbClr val="ADBBCF"/>
                </a:solidFill>
                <a:latin typeface="Aptos"/>
              </a:rPr>
              <a:t>SBOM and registry publication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554480"/>
            <a:ext cx="5257800" cy="3611880"/>
          </a:xfrm>
          <a:prstGeom prst="roundRect">
            <a:avLst/>
          </a:prstGeom>
          <a:solidFill>
            <a:srgbClr val="1B2539"/>
          </a:solidFill>
          <a:ln w="12700">
            <a:solidFill>
              <a:srgbClr val="25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8" y="1828800"/>
            <a:ext cx="448056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000" b="1">
                <a:solidFill>
                  <a:srgbClr val="49D6C9"/>
                </a:solidFill>
                <a:latin typeface="Aptos Display"/>
              </a:rPr>
              <a:t>Presentation flow</a:t>
            </a:r>
          </a:p>
        </p:txBody>
      </p:sp>
      <p:sp>
        <p:nvSpPr>
          <p:cNvPr id="17" name="Oval 16"/>
          <p:cNvSpPr/>
          <p:nvPr/>
        </p:nvSpPr>
        <p:spPr>
          <a:xfrm>
            <a:off x="6510528" y="2587752"/>
            <a:ext cx="100584" cy="100584"/>
          </a:xfrm>
          <a:prstGeom prst="ellipse">
            <a:avLst/>
          </a:prstGeom>
          <a:solidFill>
            <a:srgbClr val="49D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39128" y="2487168"/>
            <a:ext cx="4343400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400" b="0">
                <a:solidFill>
                  <a:srgbClr val="ADBBCF"/>
                </a:solidFill>
                <a:latin typeface="Aptos"/>
              </a:rPr>
              <a:t>Show Scrum/Kanban board and the saved task</a:t>
            </a:r>
          </a:p>
        </p:txBody>
      </p:sp>
      <p:sp>
        <p:nvSpPr>
          <p:cNvPr id="19" name="Oval 18"/>
          <p:cNvSpPr/>
          <p:nvPr/>
        </p:nvSpPr>
        <p:spPr>
          <a:xfrm>
            <a:off x="6510528" y="3154680"/>
            <a:ext cx="100584" cy="100584"/>
          </a:xfrm>
          <a:prstGeom prst="ellipse">
            <a:avLst/>
          </a:prstGeom>
          <a:solidFill>
            <a:srgbClr val="49D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39128" y="3054096"/>
            <a:ext cx="4343400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400" b="0">
                <a:solidFill>
                  <a:srgbClr val="ADBBCF"/>
                </a:solidFill>
                <a:latin typeface="Aptos"/>
              </a:rPr>
              <a:t>Run the six tests and local API smoke checks</a:t>
            </a:r>
          </a:p>
        </p:txBody>
      </p:sp>
      <p:sp>
        <p:nvSpPr>
          <p:cNvPr id="21" name="Oval 20"/>
          <p:cNvSpPr/>
          <p:nvPr/>
        </p:nvSpPr>
        <p:spPr>
          <a:xfrm>
            <a:off x="6510528" y="3721608"/>
            <a:ext cx="100584" cy="100584"/>
          </a:xfrm>
          <a:prstGeom prst="ellipse">
            <a:avLst/>
          </a:prstGeom>
          <a:solidFill>
            <a:srgbClr val="49D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39128" y="3621024"/>
            <a:ext cx="4343400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400" b="0">
                <a:solidFill>
                  <a:srgbClr val="ADBBCF"/>
                </a:solidFill>
                <a:latin typeface="Aptos"/>
              </a:rPr>
              <a:t>Explain Compose observability and Kubernetes recovery design</a:t>
            </a:r>
          </a:p>
        </p:txBody>
      </p:sp>
      <p:sp>
        <p:nvSpPr>
          <p:cNvPr id="23" name="Oval 22"/>
          <p:cNvSpPr/>
          <p:nvPr/>
        </p:nvSpPr>
        <p:spPr>
          <a:xfrm>
            <a:off x="6510528" y="4288536"/>
            <a:ext cx="100584" cy="100584"/>
          </a:xfrm>
          <a:prstGeom prst="ellipse">
            <a:avLst/>
          </a:prstGeom>
          <a:solidFill>
            <a:srgbClr val="49D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39128" y="4187952"/>
            <a:ext cx="4343400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400" b="0">
                <a:solidFill>
                  <a:srgbClr val="ADBBCF"/>
                </a:solidFill>
                <a:latin typeface="Aptos"/>
              </a:rPr>
              <a:t>Separate executed evidence from configured experiments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687568"/>
            <a:ext cx="1069848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>
                <a:solidFill>
                  <a:srgbClr val="FFC857"/>
                </a:solidFill>
                <a:latin typeface="Aptos"/>
              </a:rPr>
              <a:t>GitHub repository creation was blocked by HTTP 403; no remote publication occurred.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610819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0">
                <a:solidFill>
                  <a:srgbClr val="ADBBCF"/>
                </a:solidFill>
                <a:latin typeface="Aptos"/>
              </a:rPr>
              <a:t>StormPilot is an educational lab, not a production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